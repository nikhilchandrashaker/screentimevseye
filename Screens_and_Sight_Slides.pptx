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 / CVS symptom prevalence (%)</c:v>
                </c:pt>
              </c:strCache>
            </c:strRef>
          </c:tx>
          <c:spPr>
            <a:solidFill>
              <a:srgbClr val="2C6E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6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Older adults
~4 h/day</c:v>
                  </c:pt>
                  <c:pt idx="1">
                    <c:v>Adolescents
~6.7 h/day</c:v>
                  </c:pt>
                  <c:pt idx="2">
                    <c:v>Uni. students
≥5 h/day (84.6%)</c:v>
                  </c:pt>
                  <c:pt idx="3">
                    <c:v>US general
adults ~7 h/day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51.6</c:v>
                </c:pt>
                <c:pt idx="1">
                  <c:v>51.5</c:v>
                </c:pt>
                <c:pt idx="2">
                  <c:v>76.1</c:v>
                </c:pt>
                <c:pt idx="3">
                  <c:v>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26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5F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0"/>
        <c:axPos val="l"/>
        <c:majorGridlines>
          <c:spPr>
            <a:ln w="9525" cap="flat">
              <a:solidFill>
                <a:srgbClr val="DEDAC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65F5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65F5C"/>
                    </a:solidFill>
                    <a:latin typeface="Arial"/>
                  </a:rPr>
                  <a:t>% reporting symptoms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65F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Odds ratio for myopia</c:v>
                </c:pt>
              </c:strCache>
            </c:strRef>
          </c:tx>
          <c:spPr>
            <a:solidFill>
              <a:srgbClr val="2C6E75"/>
            </a:solidFill>
            <a:ln w="38100" cap="flat">
              <a:solidFill>
                <a:srgbClr val="2C6E75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62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C6E75"/>
              </a:solidFill>
              <a:ln w="9525" cap="flat">
                <a:solidFill>
                  <a:srgbClr val="2C6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 h</c:v>
                  </c:pt>
                  <c:pt idx="1">
                    <c:v>1 h</c:v>
                  </c:pt>
                  <c:pt idx="2">
                    <c:v>2 h</c:v>
                  </c:pt>
                  <c:pt idx="3">
                    <c:v>3 h</c:v>
                  </c:pt>
                  <c:pt idx="4">
                    <c:v>4 h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1.05</c:v>
                </c:pt>
                <c:pt idx="2">
                  <c:v>1.21</c:v>
                </c:pt>
                <c:pt idx="3">
                  <c:v>1.53</c:v>
                </c:pt>
                <c:pt idx="4">
                  <c:v>1.97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62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F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1"/>
          <c:min val="0.9"/>
        </c:scaling>
        <c:delete val="0"/>
        <c:axPos val="l"/>
        <c:majorGridlines>
          <c:spPr>
            <a:ln w="9525" cap="flat">
              <a:solidFill>
                <a:srgbClr val="DEDAC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65F5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65F5C"/>
                    </a:solidFill>
                    <a:latin typeface="Arial"/>
                  </a:rPr>
                  <a:t>Odds ratio (vs. minimal exposure)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5F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9F5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F6E3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RESEARCH PROJECT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and Sight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published research says about screen time and eye health — and what an evidence-anchored model of that relationship looks like.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questions, in 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81912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are we actually looking at screens?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94767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exposure across age groups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32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1460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digital eye strain, and how common is it?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80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across five studies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472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screen use strain the eyes?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8130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blinking and tear-film mechanism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98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37997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screen time cause myopia?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4745736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dose-response evidence available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30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31266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helps?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678424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Evidence-backed, low-cost mitigation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EXPOSURE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are the default surface of daily life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C6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104M+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working-age Americans view screens 7+ hours a 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1488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adults 18–44 use devices 6+ hours daily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18288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0" y="21488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4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5.5 hrs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screen time for U.S. children 8–12 (excl. schoolwork)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AOA-commissioned screen time report (2023) · CooperVision U.S. survey (2024) · Vision Center screen time statistics (2025)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screen hours, more reported symptoms — every time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55448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DCEB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chart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24028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four separate cross-sectional studies, not one continuous trend line — different countries, ages, and symptom thresholds.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direction never reverses: every study that varied exposure within its own sample found higher screen time linked to higher symptom prevalence.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study additionally found &gt;4h/day use raised the odds of DES by 73% (OR 1.73).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ScienceDirect 2024 · Chengalpattu adolescent study 2024 · PMC 2023 (Riyadh) · Vision Center 2025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not that you blink less — it's that the blinks don't finish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claim online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“Blink rate drops from 15–20/min to 5–7/min on screens.”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repeated on patient-education sites, but not what the one controlled, hard-copy-matched lab study found.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controlled study found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20574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DCEBE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21284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14.9 vs. 13.6 blinks/min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7432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vs. hard copy — not a significant difference (Rosenfield et al., 2013, n=25, matched conditions).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965960"/>
          </a:xfrm>
          <a:prstGeom prst="roundRect">
            <a:avLst>
              <a:gd name="adj" fmla="val 5581"/>
            </a:avLst>
          </a:prstGeom>
          <a:solidFill>
            <a:srgbClr val="F6E3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changed: incomplete blinks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17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7.0%  vs.  4.3%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452628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blinks on computer vs. hard copy (p = 0.02). An incomplete blink doesn't fully re-coat the eye — the tear film breaks down faster, even without fewer blinks overall.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Portello, Rosenfield &amp; Chu, Optometry and Vision Science, 2013 (PubMed 24413278)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MYOPIA — THE STRONGEST EVIDENCE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climbs fast in the first 4 hours, then more gradually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828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et al., JAMA Network Open, 2025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28600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studies, 335,524 participants (linear model); 34 studies, 314,910 participants (nonlinear model).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+1 hour/day: 21% higher odds of myopia (linear model, OR 1.21).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curve is sigmoidal — steep rise to 4h, then gradual.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possible “safety threshold” under 1 hour/day.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 A, et al. “Digital Screen Time and Myopia: A Systematic Review and Dose-Response Meta-Analysis.” JAMA Network Open, 2025.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EQUATION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Outdoor time is independently protective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aren’t the only lever. A separate meta-analysis found outdoor light exposure reduces myopia risk on its own — which is why the recommendation is rarely just “less screen time.”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8803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6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–13%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myopia risk per additional hour of daily outdoor light exposure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606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EDAC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8803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296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–2%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794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myopia risk per additional hour of outdoor time per week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Dose–Response Relationship of Outdoor Exposure and Myopia Indicators, systematic review &amp; meta-analysis, 2019 (PMC6678505)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EYE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affect sleep through timing, not total hours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Harvard-led study compared 6.5 hours of evening exposure to blue light against equally bright green light: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4DE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514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~2× longer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melatonin suppression from blue light vs. green light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4DED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5146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6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~2× larger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246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 rhythm shift (about 3 hrs vs. 1.5 hrs)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634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section is different: melatonin suppression scales with how close to bedtime the exposure happens, not with cumulative daily screen hours — so this factor is treated separately from the hours-based estimates elsewhere in this project.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“Blue Light Has a Dark Side,” Harvard Health Publishing, 2024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MOST AFFECTED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populations, three different risk profiles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DCEBE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C6E7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606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 &amp; adolescents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myopia dose-response evidence. School near-work often stacks on top of recreational screen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6916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6E3C4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296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606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&amp; remote workers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2918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work-mandated screen use with few natural breaks. Among the highest DES prevalence of any group studied (~68%).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6916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4DEDB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445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2606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Older adults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329184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prevalence comparable to much younger groups (51.6%). Self-reported screen time may be under- or over-estimated in this group.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HELPS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Evidence-backed, and mostly free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EB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0078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6420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20-20-20 rule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1664208"/>
            <a:ext cx="6446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20 minutes, look 20 feet away for 20 seconds. Its absence was independently linked to higher DES odds.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E3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9689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Deliberate, complete blinking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560320"/>
            <a:ext cx="6446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mechanism the controlled study actually found — incomplete blinks, not blink frequency.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EBE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49300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456432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posture &amp; brightness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456432"/>
            <a:ext cx="6446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screen brightness was an independent DES risk factor; upright posture and greater distance were protective.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6E3C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38912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352544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time (especially for kids)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352544"/>
            <a:ext cx="6446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few interventions with its own directly protective dose-response evidence against myopia.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CEB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28523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5248656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down before bed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5248656"/>
            <a:ext cx="6446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matters more than total hours for melatonin suppression — dim or step away in the hour before sleep.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EVIDENCE HONESTLY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research does and doesn't show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4297680"/>
          </a:xfrm>
          <a:prstGeom prst="roundRect">
            <a:avLst>
              <a:gd name="adj" fmla="val 2553"/>
            </a:avLst>
          </a:prstGeom>
          <a:solidFill>
            <a:srgbClr val="DCEB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10332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causation. Even the strongest evidence here (the myopia meta-analysis) is a pooled statistical association across observational studies, not a controlled experiment isolating screens from other near-work.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 is common. Most digital eye strain studies rely on self-reported screen time and symptoms — one study explicitly flagged its own participants may over- or under-estimate device use.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vary. “Digital eye strain” and CVS-Q thresholds differ across studies, limiting direct numeric comparison.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unified dataset exists. This project's interactive tool interpolates between real published anchor points — and is explicit about where it extrapolates beyond them.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figure in this deck, traced to a study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A, et al. Digital Screen Time and Myopia: A Systematic Review and Dose-Response Meta-Analysis. JAMA Network Open, 2025.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Portello, Rosenfield &amp; Chu. Blink Patterns: Reading from a Computer Screen versus Hard Copy. Optometry and Vision Science, 2013.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 of Digital Eye Strain During the COVID-19 Pandemic Among Adolescent Schoolchildren, Chengalpattu District, 2024.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 and clinical correlates in older adults. ScienceDirect, 2024.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Prevalence and Knowledge of Digital Eye Strain Among Undergraduates in Riyadh, Saudi Arabia, 2023.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 among Peruvian Nursing Students: Prevalence and Associated Factors, 2023.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600200"/>
            <a:ext cx="54406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Dose–Response Relationship of Outdoor Exposure and Myopia Indicators, 2019.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Light Has a Dark Side. Harvard Health Publishing, 2024.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Screen Time on Vision: 2025 Statistics &amp; Trends. Vision Center, 2025.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CooperVision Research Reveals U.S. Screen Time and Digital Eye Strain Continue to Rise, 2024.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E2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Unmanaged Excessive Screen Time in the United States. American Optometric Association, 2023.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2A34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29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aren’t the enemy — unmanaged, uninterrupted screen time is.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20-20-20 rule, real blinking, outdoor time, and screens-down before bed are backed by the same studies that quantify the risk.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Screens and Sight: Screen Time and Eye Health</dc:title>
  <dc:subject>PptxGenJS Presentation</dc:subject>
  <dc:creator>Screens and Sight</dc:creator>
  <cp:lastModifiedBy>Screens and Sight</cp:lastModifiedBy>
  <cp:revision>1</cp:revision>
  <dcterms:created xsi:type="dcterms:W3CDTF">2026-09-07T19:30:00Z</dcterms:created>
  <dcterms:modified xsi:type="dcterms:W3CDTF">2026-09-07T19:30:00Z</dcterms:modified>
</cp:coreProperties>
</file>